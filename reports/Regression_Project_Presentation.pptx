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S&amp;P 500 Stock Regression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Paul Lopes | Regression Methods | Nov 28,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Project Overview &amp; Research Question</a:t>
            </a:r>
          </a:p>
          <a:p>
            <a:r>
              <a:t>Data and Feature Engineering</a:t>
            </a:r>
          </a:p>
          <a:p>
            <a:r>
              <a:t>Regression Model</a:t>
            </a:r>
          </a:p>
          <a:p>
            <a:r>
              <a:t>Results &amp; Diagnostics</a:t>
            </a:r>
          </a:p>
          <a:p>
            <a:r>
              <a:t>Interpretation, Limitations,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Cam Nugent S&amp;P 500 daily price dataset (Kaggle)</a:t>
            </a:r>
          </a:p>
          <a:p>
            <a:r>
              <a:t>619k rows, 2013–2018 OHLCV plus ticker name</a:t>
            </a:r>
          </a:p>
          <a:p>
            <a:r>
              <a:t>Used trading days in 2017 plus first day of 2018</a:t>
            </a:r>
          </a:p>
          <a:p>
            <a:r>
              <a:t>Reproducible via scripts/sp500_regression.R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Which observable trading characteristics explain cross-sectional variation in 1-year S&amp;P 500 returns?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Response: y_log_return = log(price_2018-01-02 / price_2017-01-03)</a:t>
            </a:r>
          </a:p>
          <a:p>
            <a:r>
              <a:t>Volatility: annualized sd of 2017 daily log returns</a:t>
            </a:r>
          </a:p>
          <a:p>
            <a:r>
              <a:t>Avg Volume: mean 2017 trading volume in millions</a:t>
            </a:r>
          </a:p>
          <a:p>
            <a:r>
              <a:t>Momentum 90: log return over first 90 trading days</a:t>
            </a:r>
          </a:p>
          <a:p>
            <a:r>
              <a:t>Trend MA30: slope between Day 1 price and 30-day moving average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Cleaned columns, parsed dates, sorted by ticker/date</a:t>
            </a:r>
          </a:p>
          <a:p>
            <a:r>
              <a:t>Calculated daily log returns and filtered incomplete tickers</a:t>
            </a:r>
          </a:p>
          <a:p>
            <a:r>
              <a:t>Summarized 2017 trades to compute predictors</a:t>
            </a:r>
          </a:p>
          <a:p>
            <a:r>
              <a:t>Calculated forward-looking log return to 2018 start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OLS: y_log_return ~ volatility + avg_volume_mln + momentum_90 + trend_ma30</a:t>
            </a:r>
          </a:p>
          <a:p>
            <a:r>
              <a:t>Assumptions checked with residual vs fitted and Q-Q plots</a:t>
            </a:r>
          </a:p>
          <a:p>
            <a:r>
              <a:t>Outputs saved (coefficients, metrics, residuals)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Statistics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74980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749040"/>
              </a:tblGrid>
              <a:tr h="54864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Ticker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Mean 1Y Log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0.137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Median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0.195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Median Avg Volume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Momentum 90 IQR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R² = 0.529, Adjusted R² = 0.525</a:t>
            </a:r>
          </a:p>
          <a:p>
            <a:r>
              <a:t>Residual Std. Error = 0.158</a:t>
            </a:r>
          </a:p>
          <a:p>
            <a:r>
              <a:t>F-statistic = 139.7 (p = 5.5e-80)</a:t>
            </a:r>
          </a:p>
          <a:p>
            <a:r>
              <a:t>Observations = 503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Coefficient Estimates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8412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579120">
                <a:tc>
                  <a:txBody>
                    <a:bodyPr/>
                    <a:lstStyle/>
                    <a:p>
                      <a: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p-value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(Intercept)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5.6e-18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2.0e-07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avg_volume_mln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5.3e-01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momentum_90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3.0e-39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trend_ma30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2.3e-01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Diagnostic: Residuals vs Fitted</a:t>
            </a:r>
          </a:p>
        </p:txBody>
      </p:sp>
      <p:pic>
        <p:nvPicPr>
          <p:cNvPr id="3" name="Picture 2" descr="residuals_vs_fi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22960"/>
            <a:ext cx="64465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Diagnostic: Normal Q-Q</a:t>
            </a:r>
          </a:p>
        </p:txBody>
      </p:sp>
      <p:pic>
        <p:nvPicPr>
          <p:cNvPr id="3" name="Picture 2" descr="qq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22960"/>
            <a:ext cx="64465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Momentum dominates: stronger early-year trends → higher annual returns</a:t>
            </a:r>
          </a:p>
          <a:p>
            <a:r>
              <a:t>Volatility negatively related to returns; stability rewarded</a:t>
            </a:r>
          </a:p>
          <a:p>
            <a:r>
              <a:t>Volume and short-term MA trend add limited incremental signal</a:t>
            </a:r>
          </a:p>
          <a:p>
            <a:r>
              <a:t>Model captures &gt;50% of return variation with simple technical inputs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Single-year horizon—extend to multi-year panel to test stability</a:t>
            </a:r>
          </a:p>
          <a:p>
            <a:r>
              <a:t>No sector fixed effects or macro controls—add in future work</a:t>
            </a:r>
          </a:p>
          <a:p>
            <a:r>
              <a:t>Explore LASSO, tree ensembles, or interaction terms</a:t>
            </a:r>
          </a:p>
          <a:p>
            <a:r>
              <a:t>Integrate fundamental factors (valuation, profitability)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Cam Nugent. "S&amp;P 500 Stock Data", Kaggle (Accessed Nov 2025).</a:t>
            </a:r>
          </a:p>
          <a:p>
            <a:r>
              <a:t>Jegadeesh &amp; Titman (1993). Returns to buying winners and selling losers.</a:t>
            </a:r>
          </a:p>
          <a:p>
            <a:r>
              <a:t>Repository: https://github.com/paullopes2004/RegressionCourseProject</a:t>
            </a:r>
          </a:p>
          <a:p>
            <a:r>
              <a:t>Contact: Paul Lopes (paullopes@iu.edu)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