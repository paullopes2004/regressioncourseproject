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Paul Lopes | Regression Methods | November 28, 2025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S&amp;P 500 Stock Regression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Goal: explain cross-sectional variation in 1-year S&amp;P 500 returns using technical indicators.</a:t>
            </a:r>
          </a:p>
          <a:p>
            <a:pPr/>
            <a:r>
              <a:t>Dataset: Cam Nugent Kaggle daily prices (2013–2018) covering 500+ tickers.</a:t>
            </a:r>
          </a:p>
          <a:p>
            <a:pPr/>
            <a:r>
              <a:t>Approach: feature engineering + multiple linear regression in R.</a:t>
            </a:r>
          </a:p>
          <a:p>
            <a:pPr/>
            <a:r>
              <a:t>Key result: Model explains 53% of variance; momentum &amp; volatility dominate.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Abstract (What did I do?)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Prompt: choose regression topic and present like scientific paper.</a:t>
            </a:r>
          </a:p>
          <a:p>
            <a:pPr/>
            <a:r>
              <a:t>Research question: Which readily available price characteristics predict annual returns?</a:t>
            </a:r>
          </a:p>
          <a:p>
            <a:pPr/>
            <a:r>
              <a:t>Motivation: Provide actionable screening rules for classmates/investors.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Introduction (What is the problem?)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Software: R (tidyverse, lubridate, broom) executed via scripts/sp500_regression.R.</a:t>
            </a:r>
          </a:p>
          <a:p>
            <a:pPr/>
            <a:r>
              <a:t>Data cleaning: lower-case columns, parse dates, compute daily log returns.</a:t>
            </a:r>
          </a:p>
          <a:p>
            <a:pPr/>
            <a:r>
              <a:t>Filtered out tickers with &lt;20 trading days in 2017.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Materials &amp; Methods (1/2)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Response: log return from first trading day of 2017 to first day of 2018.</a:t>
            </a:r>
          </a:p>
          <a:p>
            <a:pPr/>
            <a:r>
              <a:t>Predictors: volatility, avg volume, 90-day momentum, 30-day MA trend.</a:t>
            </a:r>
          </a:p>
          <a:p>
            <a:pPr/>
            <a:r>
              <a:t>Model: OLS with assumption checks (linearity, residual diagnostics).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Materials &amp; Methods (2/2)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Aggregate 2017 trading info per ticker into a single row.</a:t>
            </a:r>
          </a:p>
          <a:p>
            <a:pPr/>
            <a:r>
              <a:t>Annualize volatility and rescale volume to millions.</a:t>
            </a:r>
          </a:p>
          <a:p>
            <a:pPr/>
            <a:r>
              <a:t>Compute forward-looking response to avoid look-ahead bias.</a:t>
            </a:r>
          </a:p>
          <a:p>
            <a:pPr/>
            <a:r>
              <a:t>Save tidy dataset to data/processed/sp500_features.csv.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Feature Engineering Workflow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Experimental Design Diagram</a:t>
            </a:r>
          </a:p>
        </p:txBody>
      </p:sp>
      <p:sp>
        <p:nvSpPr>
          <p:cNvPr id="5" name="Octagon 4"/>
          <p:cNvSpPr/>
          <p:nvPr/>
        </p:nvSpPr>
        <p:spPr>
          <a:xfrm>
            <a:off x="914400" y="1463040"/>
            <a:ext cx="7772400" cy="3200400"/>
          </a:xfrm>
          <a:prstGeom prst="octagon">
            <a:avLst/>
          </a:prstGeom>
          <a:solidFill>
            <a:srgbClr val="F0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>
                <a:solidFill>
                  <a:srgbClr val="0F192D"/>
                </a:solidFill>
              </a:rPr>
              <a:t>Pipeline: Raw Kaggle CSV → Clean Daily Prices → Feature Summary per Ticker → Regression Model → Diagnostics &amp; Slides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Results: Descriptive Statistics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749807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749040"/>
              </a:tblGrid>
              <a:tr h="57912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t>Tickers 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t>Mean 1Y log return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0.137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t>Median volatility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0.195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t>Median avg volume 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2.20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t>Momentum 90 IQR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R² = 0.529 (Adj = 0.525)</a:t>
            </a:r>
          </a:p>
          <a:p>
            <a:r>
              <a:t>Residual Std. Error = 0.158</a:t>
            </a:r>
          </a:p>
          <a:p>
            <a:r>
              <a:t>F-statistic = 139.7 | p = 5.5e-80</a:t>
            </a:r>
          </a:p>
          <a:p>
            <a:r>
              <a:t>n = 503 tickers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Results: Model Fit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Results: Coefficient Estimates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554480"/>
          <a:ext cx="83210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80"/>
                <a:gridCol w="2773680"/>
                <a:gridCol w="2773680"/>
              </a:tblGrid>
              <a:tr h="548640">
                <a:tc>
                  <a:txBody>
                    <a:bodyPr/>
                    <a:lstStyle/>
                    <a:p>
                      <a:r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p-value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(Intercept)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5.6e-18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volatility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-0.468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2.0e-07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avg_volume_mln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5.3e-01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momentum_90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3.0e-39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trend_ma30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2.3e-01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Diagnostic: Residuals vs Fitted</a:t>
            </a:r>
          </a:p>
        </p:txBody>
      </p:sp>
      <p:pic>
        <p:nvPicPr>
          <p:cNvPr id="3" name="Picture 2" descr="residuals_vs_fit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22960"/>
            <a:ext cx="65836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Diagnostic: Normal Q-Q</a:t>
            </a:r>
          </a:p>
        </p:txBody>
      </p:sp>
      <p:pic>
        <p:nvPicPr>
          <p:cNvPr id="3" name="Picture 2" descr="qq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22960"/>
            <a:ext cx="65836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Momentum signal indicates trend persistence across large caps.</a:t>
            </a:r>
          </a:p>
          <a:p>
            <a:r>
              <a:t>Negative volatility coefficient suggests stability premium in 2017.</a:t>
            </a:r>
          </a:p>
          <a:p>
            <a:r>
              <a:t>Volume and MA trend become redundant once momentum is included.</a:t>
            </a:r>
          </a:p>
          <a:p>
            <a:r>
              <a:t>Model provides practical screening tool with interpretable coefficients.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Discussion (What does it mean?)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Single-year window—extend to multi-year rolling regressions.</a:t>
            </a:r>
          </a:p>
          <a:p>
            <a:r>
              <a:t>No sector controls—add dummy variables for finer interpretation.</a:t>
            </a:r>
          </a:p>
          <a:p>
            <a:r>
              <a:t>Assume linearity—evaluate LASSO or Random Forest.</a:t>
            </a:r>
          </a:p>
          <a:p>
            <a:r>
              <a:t>Incorporate fundamentals (valuation, profitability) for richer models.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Limitations &amp; Future Work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Cam Nugent for Kaggle dataset.</a:t>
            </a:r>
          </a:p>
          <a:p>
            <a:r>
              <a:t>Regression Methods instructor for guidance.</a:t>
            </a:r>
          </a:p>
          <a:p>
            <a:r>
              <a:t>ChatGPT (OpenAI GPT-5.1 Codex) for scripting/document support (cited).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Acknowledgments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Cam Nugent (2025). "S&amp;P 500 Stock Data", Kaggle.</a:t>
            </a:r>
          </a:p>
          <a:p>
            <a:r>
              <a:t>Jegadeesh, N. &amp; Titman, S. (1993). Returns to buying winners and selling losers.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Literature Cited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Appendix A: scripts/sp500_regression.R</a:t>
            </a:r>
          </a:p>
          <a:p>
            <a:r>
              <a:t>Appendix B: outputs/ (coefficients, metrics, residuals)</a:t>
            </a:r>
          </a:p>
          <a:p>
            <a:r>
              <a:t>Appendix C: figures/ (diagnostic PNGs)</a:t>
            </a:r>
          </a:p>
          <a:p>
            <a:r>
              <a:t>Data URL: https://www.kaggle.com/datasets/camnugent/sandp500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Appendices &amp; Extras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GitHub Repo: https://github.com/paullopes2004/RegressionCourseProject</a:t>
            </a:r>
          </a:p>
          <a:p>
            <a:r>
              <a:t>Email: paullopes@iu.edu</a:t>
            </a:r>
          </a:p>
          <a:p>
            <a:r>
              <a:t>Collaborator: abarvalia369 (invited)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834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2800">
                <a:solidFill>
                  <a:srgbClr val="FFFFFF"/>
                </a:solidFill>
              </a:rPr>
              <a:t>Access &amp; Contact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